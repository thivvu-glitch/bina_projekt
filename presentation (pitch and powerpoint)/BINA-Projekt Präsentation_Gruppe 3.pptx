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36A55-9205-4CA7-95E9-13F20C0DDF27}" v="1" dt="2026-05-23T13:12:27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nkan Maheswaran" userId="f00d5a1e-77c8-4e3b-8f4d-1608e6cba607" providerId="ADAL" clId="{DB715D31-6383-499A-9BB9-4DC6DA838A13}"/>
    <pc:docChg chg="modSld">
      <pc:chgData name="Sarankan Maheswaran" userId="f00d5a1e-77c8-4e3b-8f4d-1608e6cba607" providerId="ADAL" clId="{DB715D31-6383-499A-9BB9-4DC6DA838A13}" dt="2026-05-24T08:44:14.410" v="1" actId="20577"/>
      <pc:docMkLst>
        <pc:docMk/>
      </pc:docMkLst>
      <pc:sldChg chg="modSp mod">
        <pc:chgData name="Sarankan Maheswaran" userId="f00d5a1e-77c8-4e3b-8f4d-1608e6cba607" providerId="ADAL" clId="{DB715D31-6383-499A-9BB9-4DC6DA838A13}" dt="2026-05-24T08:44:14.410" v="1" actId="20577"/>
        <pc:sldMkLst>
          <pc:docMk/>
          <pc:sldMk cId="0" sldId="256"/>
        </pc:sldMkLst>
        <pc:spChg chg="mod">
          <ac:chgData name="Sarankan Maheswaran" userId="f00d5a1e-77c8-4e3b-8f4d-1608e6cba607" providerId="ADAL" clId="{DB715D31-6383-499A-9BB9-4DC6DA838A13}" dt="2026-05-24T08:44:14.410" v="1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219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Intelligence &amp; Analytics · </a:t>
            </a:r>
            <a:r>
              <a:rPr lang="en-US" sz="900" b="1" kern="0" spc="300" dirty="0" err="1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Gruppenarbeit</a:t>
            </a:r>
            <a:r>
              <a:rPr lang="en-US" sz="900" b="1" kern="0" spc="30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-1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 Injury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i="1" kern="0" spc="-100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Analyse · Prognose — für die 5 grössten europäischen Ligen.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4297680"/>
            <a:ext cx="5852160" cy="73152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371600" y="44348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0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"Ein einziger Kreuzbandriss. 8 Monate Ausfall. Und plötzlich ist ein Spieler weit weniger wert. Wir machen das sichtbar – und berechenbar."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4800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Wirtschaftsinformatik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Verletzungen kosten Vereine Millionen.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Kaum jemand hat einen klaren Überblick — bis jetzt.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651760" cy="2194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1508760" y="2212848"/>
            <a:ext cx="548640" cy="548640"/>
          </a:xfrm>
          <a:prstGeom prst="ellipse">
            <a:avLst/>
          </a:prstGeom>
          <a:solidFill>
            <a:srgbClr val="1A3A2A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€ 2.3 Mrd.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3101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Geschätzter Marktwert-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Verlust pro Saison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2651760" cy="2194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343400" y="2212848"/>
            <a:ext cx="548640" cy="548640"/>
          </a:xfrm>
          <a:prstGeom prst="ellipse">
            <a:avLst/>
          </a:prstGeom>
          <a:solidFill>
            <a:srgbClr val="1A3A2A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34340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– 40%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33101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 erleiden mind.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Verletzung pro Saison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103120"/>
            <a:ext cx="2651760" cy="2194560"/>
          </a:xfrm>
          <a:prstGeom prst="rect">
            <a:avLst/>
          </a:prstGeom>
          <a:solidFill>
            <a:srgbClr val="111111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7178040" y="2212848"/>
            <a:ext cx="548640" cy="548640"/>
          </a:xfrm>
          <a:prstGeom prst="ellipse">
            <a:avLst/>
          </a:prstGeom>
          <a:solidFill>
            <a:srgbClr val="1A3A2A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7178040" y="2212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6974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Kaum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331012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Datenbasierte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Entscheidungstools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4400" y="44348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Vereine investieren Hunderte von Millionen in Spieler – aber kaum jemand hat einen klaren Überblick über Verletzungsrisiken und deren finanzielle Konsequenzen.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UNSERE LÖSUNG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 Injury Intelligence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D1D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Kaggle-Datensätze. Fünf europäische Top-Ligen. Echtzeit-Analyse und Machine Learning — in einem einzigen Interface.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1321308" cy="292608"/>
          </a:xfrm>
          <a:prstGeom prst="roundRect">
            <a:avLst>
              <a:gd name="adj" fmla="val 46875"/>
            </a:avLst>
          </a:prstGeom>
          <a:solidFill>
            <a:srgbClr val="E6F9EF"/>
          </a:solidFill>
          <a:ln w="12700">
            <a:solidFill>
              <a:srgbClr val="B3E8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3213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Top-Ligen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43100" y="3017520"/>
            <a:ext cx="1408176" cy="292608"/>
          </a:xfrm>
          <a:prstGeom prst="roundRect">
            <a:avLst>
              <a:gd name="adj" fmla="val 46875"/>
            </a:avLst>
          </a:prstGeom>
          <a:solidFill>
            <a:srgbClr val="E6F9EF"/>
          </a:solidFill>
          <a:ln w="12700">
            <a:solidFill>
              <a:srgbClr val="B3E8CC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1943100" y="3017520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48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Kaggle-Daten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15868" y="3017520"/>
            <a:ext cx="1929384" cy="292608"/>
          </a:xfrm>
          <a:prstGeom prst="roundRect">
            <a:avLst>
              <a:gd name="adj" fmla="val 46875"/>
            </a:avLst>
          </a:prstGeom>
          <a:solidFill>
            <a:srgbClr val="F2F2F2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3515868" y="301752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Verletzungsanalyse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1929384" cy="292608"/>
          </a:xfrm>
          <a:prstGeom prst="roundRect">
            <a:avLst>
              <a:gd name="adj" fmla="val 46875"/>
            </a:avLst>
          </a:prstGeom>
          <a:solidFill>
            <a:srgbClr val="F2F2F2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Marktwert-Prognose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51176" y="3401568"/>
            <a:ext cx="1060704" cy="292608"/>
          </a:xfrm>
          <a:prstGeom prst="roundRect">
            <a:avLst>
              <a:gd name="adj" fmla="val 46875"/>
            </a:avLst>
          </a:prstGeom>
          <a:solidFill>
            <a:srgbClr val="F2F2F2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2551176" y="3401568"/>
            <a:ext cx="1060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ML-Modul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76472" y="3401568"/>
            <a:ext cx="1234440" cy="292608"/>
          </a:xfrm>
          <a:prstGeom prst="roundRect">
            <a:avLst>
              <a:gd name="adj" fmla="val 46875"/>
            </a:avLst>
          </a:prstGeom>
          <a:solidFill>
            <a:srgbClr val="F2F2F2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3776472" y="34015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ANALYSE-FEATURES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D1D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das Dashboard kann.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Kernfunktionen, entwickelt auf Basis echter Daten.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685800" y="2121408"/>
            <a:ext cx="384048" cy="384048"/>
          </a:xfrm>
          <a:prstGeom prst="ellipse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Verletzungen nach Position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Positionen sind am verletzungsanfälligsten? Klarer Vergleich über alle 5 Ligen — vom Sturm bis zum Tor.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192024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4937760" y="2121408"/>
            <a:ext cx="384048" cy="384048"/>
          </a:xfrm>
          <a:prstGeom prst="ellipse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937760" y="2121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0" y="2103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Körperteil-Analyse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46888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des Spielerkörpers zeigt kritische Körperstellen, Verletzungshäufigkeiten und Ausfallzeiten.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611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Ausfalltage &amp; Saison-Trends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77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Zeitliche Entwicklung, Vergleich zwischen Ligen und Clustering nach Verletzungstyp und Schwere.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429000"/>
            <a:ext cx="3977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4937760" y="3630168"/>
            <a:ext cx="384048" cy="384048"/>
          </a:xfrm>
          <a:prstGeom prst="ellipse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49377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6118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 Datenbasis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3977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Kaggle-Datensätze: Verletzungen + Marktwerte. Tausende Einträge aus echten Spielbetrieben der Top-5-Ligen.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HIGHLIGHT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Marktwert-Prognose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nach Verletzung.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Unser Machine-Learning-Modul berechnet in Sekunden, wie sich eine hypothetische Verletzung auf den Marktwert auswirkt.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990088"/>
            <a:ext cx="91440" cy="91440"/>
          </a:xfrm>
          <a:prstGeom prst="ellipse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658368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Eingabe: Spieler, Verletzungstyp, Ausfalltage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374136"/>
            <a:ext cx="91440" cy="91440"/>
          </a:xfrm>
          <a:prstGeom prst="ellipse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658368" y="3310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Ausgabe: Prognostizierter Marktwert nach Verletzung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758184"/>
            <a:ext cx="91440" cy="91440"/>
          </a:xfrm>
          <a:prstGeom prst="ellipse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658368" y="36941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Basis: echte Marktdaten aus dem Kaggle-Datensatz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365760"/>
            <a:ext cx="3749040" cy="4480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F1F1F"/>
            </a:solidFill>
            <a:prstDash val="solid"/>
          </a:ln>
          <a:effectLst>
            <a:outerShdw blurRad="508000" dist="1905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5074920" y="548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ML-Prognose · Marktwert-Simulation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74920" y="914400"/>
            <a:ext cx="347472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5074920" y="105156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74920" y="1271016"/>
            <a:ext cx="3474720" cy="347472"/>
          </a:xfrm>
          <a:prstGeom prst="rect">
            <a:avLst/>
          </a:prstGeom>
          <a:solidFill>
            <a:srgbClr val="161616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5166360" y="12984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Eriksen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74920" y="182880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VERLETZUNGSKATEGORIE</a:t>
            </a:r>
            <a:endParaRPr lang="en-US" sz="7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74920" y="2048256"/>
            <a:ext cx="3474720" cy="347472"/>
          </a:xfrm>
          <a:prstGeom prst="rect">
            <a:avLst/>
          </a:prstGeom>
          <a:solidFill>
            <a:srgbClr val="161616"/>
          </a:solidFill>
          <a:ln w="12700">
            <a:solidFill>
              <a:srgbClr val="1F1F1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7"/>
          <p:cNvSpPr/>
          <p:nvPr/>
        </p:nvSpPr>
        <p:spPr>
          <a:xfrm>
            <a:off x="5166360" y="20756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</a:t>
            </a:r>
          </a:p>
        </p:txBody>
      </p:sp>
      <p:sp>
        <p:nvSpPr>
          <p:cNvPr id="20" name="Text 18"/>
          <p:cNvSpPr/>
          <p:nvPr/>
        </p:nvSpPr>
        <p:spPr>
          <a:xfrm>
            <a:off x="5074920" y="26060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AUSFALLTAGE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74920" y="2825496"/>
            <a:ext cx="347472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5166360" y="2852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Tage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3520440"/>
            <a:ext cx="3474720" cy="1005840"/>
          </a:xfrm>
          <a:prstGeom prst="rect">
            <a:avLst/>
          </a:prstGeom>
          <a:solidFill>
            <a:srgbClr val="0D1F16"/>
          </a:solidFill>
          <a:ln w="12700">
            <a:solidFill>
              <a:srgbClr val="1A5C3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521208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PROGNOSTIZIERTER MARKTWERT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212080" y="385876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€ 2.04 Mio</a:t>
            </a:r>
            <a:endParaRPr lang="en-US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1D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die Daten zeigen.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VERLETZUNGEN NACH POSITION (BEISPIELDATEN)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Mittelfeld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54480" y="1920240"/>
            <a:ext cx="3108960" cy="137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Shape 5"/>
          <p:cNvSpPr/>
          <p:nvPr/>
        </p:nvSpPr>
        <p:spPr>
          <a:xfrm>
            <a:off x="1554480" y="1920240"/>
            <a:ext cx="3046781" cy="13716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Abwehr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423160"/>
            <a:ext cx="3108960" cy="137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1554480" y="2423160"/>
            <a:ext cx="2549347" cy="13716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754880" y="2331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2926080"/>
            <a:ext cx="3108960" cy="137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Shape 13"/>
          <p:cNvSpPr/>
          <p:nvPr/>
        </p:nvSpPr>
        <p:spPr>
          <a:xfrm>
            <a:off x="1554480" y="2926080"/>
            <a:ext cx="1989734" cy="13716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337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54480" y="3429000"/>
            <a:ext cx="3108960" cy="13716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Shape 17"/>
          <p:cNvSpPr/>
          <p:nvPr/>
        </p:nvSpPr>
        <p:spPr>
          <a:xfrm>
            <a:off x="1554480" y="3429000"/>
            <a:ext cx="808330" cy="137160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Text 18"/>
          <p:cNvSpPr/>
          <p:nvPr/>
        </p:nvSpPr>
        <p:spPr>
          <a:xfrm>
            <a:off x="4754880" y="3337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Quelle: Kaggle – Football Injuries &amp; Market Value Dataset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86400" y="36576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Text 21"/>
          <p:cNvSpPr/>
          <p:nvPr/>
        </p:nvSpPr>
        <p:spPr>
          <a:xfrm>
            <a:off x="5623560" y="4572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23560" y="9601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Mittelfeldspieler weisen überproportional viele Muskelverletzungen auf – besonders in der Rückrunde.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0" y="187452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6" name="Text 24"/>
          <p:cNvSpPr/>
          <p:nvPr/>
        </p:nvSpPr>
        <p:spPr>
          <a:xfrm>
            <a:off x="5623560" y="196596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623560" y="246888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Torhüter haben die längsten durchschnittlichen Ausfallzeiten bei Schulterverletzungen (Ø 62 Tage).</a:t>
            </a:r>
            <a:endParaRPr lang="en-US" sz="1050" dirty="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472C9446-BBC2-D92E-5606-03D77AA5E669}"/>
              </a:ext>
            </a:extLst>
          </p:cNvPr>
          <p:cNvSpPr/>
          <p:nvPr/>
        </p:nvSpPr>
        <p:spPr>
          <a:xfrm>
            <a:off x="5501640" y="338328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2" name="Text 24">
            <a:extLst>
              <a:ext uri="{FF2B5EF4-FFF2-40B4-BE49-F238E27FC236}">
                <a16:creationId xmlns:a16="http://schemas.microsoft.com/office/drawing/2014/main" id="{9BF5C8D8-D11D-7968-8FFE-3273B02B8BBB}"/>
              </a:ext>
            </a:extLst>
          </p:cNvPr>
          <p:cNvSpPr/>
          <p:nvPr/>
        </p:nvSpPr>
        <p:spPr>
          <a:xfrm>
            <a:off x="5638800" y="34747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28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C2D5AC29-9988-06FE-E651-9AB2519D7558}"/>
              </a:ext>
            </a:extLst>
          </p:cNvPr>
          <p:cNvSpPr/>
          <p:nvPr/>
        </p:nvSpPr>
        <p:spPr>
          <a:xfrm>
            <a:off x="5638800" y="397764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Durchschnittlich</a:t>
            </a: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fallen die Spieler 36.5 Tage </a:t>
            </a:r>
            <a:r>
              <a:rPr lang="en-US" sz="1050" dirty="0" err="1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</a:t>
            </a: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einer</a:t>
            </a: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Verletzung</a:t>
            </a:r>
            <a:r>
              <a:rPr lang="en-US" sz="1050" dirty="0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E6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&amp; POTENZIAL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Akademisches Projekt. Echtes Marktpotenzial.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heute ein Kurs-Projekt ist, hat morgen mehrere reale Anwendungsfälle.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2029968" cy="29260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786384" y="1938528"/>
            <a:ext cx="1005840" cy="457200"/>
          </a:xfrm>
          <a:prstGeom prst="ellipse">
            <a:avLst/>
          </a:prstGeom>
          <a:solidFill>
            <a:srgbClr val="0D1F16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786384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254203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für Sportdirektoren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310896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Transferentscheidungen datenbasiert stützen – welcher Spieler ist nach Verletzung noch sein Geld wert?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874520"/>
            <a:ext cx="2029968" cy="29260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2962656" y="1938528"/>
            <a:ext cx="1005840" cy="457200"/>
          </a:xfrm>
          <a:prstGeom prst="ellipse">
            <a:avLst/>
          </a:prstGeom>
          <a:solidFill>
            <a:srgbClr val="0D1F16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962656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87752" y="254203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Versicherungs-Tool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60320" y="310896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Prämien berechnen auf Basis von Verletzungswahrscheinlichkeit und Marktwert-Risiko.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26864" y="1874520"/>
            <a:ext cx="2029968" cy="29260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5138928" y="1938528"/>
            <a:ext cx="1005840" cy="457200"/>
          </a:xfrm>
          <a:prstGeom prst="ellipse">
            <a:avLst/>
          </a:prstGeom>
          <a:solidFill>
            <a:srgbClr val="0D1F16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5138928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4024" y="254203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Scouting-Intelligence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36592" y="310896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Verletzungshistorie als Filterkriterium – Risiko bei der Spielersuche transparent machen.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03136" y="1874520"/>
            <a:ext cx="2029968" cy="2926080"/>
          </a:xfrm>
          <a:prstGeom prst="rect">
            <a:avLst/>
          </a:prstGeom>
          <a:solidFill>
            <a:srgbClr val="0D0D0D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Shape 19"/>
          <p:cNvSpPr/>
          <p:nvPr/>
        </p:nvSpPr>
        <p:spPr>
          <a:xfrm>
            <a:off x="7315200" y="1938528"/>
            <a:ext cx="1005840" cy="457200"/>
          </a:xfrm>
          <a:prstGeom prst="ellipse">
            <a:avLst/>
          </a:prstGeom>
          <a:solidFill>
            <a:srgbClr val="0D1F16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7315200" y="19385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C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40296" y="2542032"/>
            <a:ext cx="17556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Erweiterung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12864" y="3108960"/>
            <a:ext cx="181051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Ligen, Nachwuchs-Teams und Echtzeit-Datenpipelines als nächste Ausbaustufe.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-100" dirty="0">
                <a:solidFill>
                  <a:srgbClr val="1D1D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 Injury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i="1" kern="0" spc="-100" dirty="0">
                <a:solidFill>
                  <a:srgbClr val="06C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267004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Real Data. Built for Real Decisions.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206240" y="3200400"/>
            <a:ext cx="731520" cy="54864"/>
          </a:xfrm>
          <a:prstGeom prst="rect">
            <a:avLst/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1097280" y="3401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728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Analytics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3401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STUDIENGANG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65760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Wirtschaftsinformatik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34015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217920" y="36118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D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5 Top-Ligen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Alessandra Schneller · Aron Halef · Kevin Kurinjirappalli · Michael Huwiler · Sarankan Maheswaran · Thivvirthan Krishnakumar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Bildschirmpräsentation (16:9)</PresentationFormat>
  <Paragraphs>114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Football Injury Intelligence</dc:title>
  <dc:subject>PptxGenJS Presentation</dc:subject>
  <dc:creator>PptxGenJS</dc:creator>
  <cp:lastModifiedBy>Sarankan Maheswaran</cp:lastModifiedBy>
  <cp:revision>2</cp:revision>
  <dcterms:created xsi:type="dcterms:W3CDTF">2026-05-23T09:58:26Z</dcterms:created>
  <dcterms:modified xsi:type="dcterms:W3CDTF">2026-05-24T08:44:15Z</dcterms:modified>
</cp:coreProperties>
</file>